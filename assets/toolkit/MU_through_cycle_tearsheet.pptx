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12191695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 TECHNOLOGY  |  NASDAQ: MU  |  TEAR SHEET  |  AS-OF 5/7/2026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Through-Cycle Valuation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321040" y="502920"/>
            <a:ext cx="960120" cy="365760"/>
          </a:xfrm>
          <a:prstGeom prst="rect">
            <a:avLst/>
          </a:prstGeom>
          <a:solidFill>
            <a:srgbClr val="C9802E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502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72600" y="475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 $625   (−6%)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$668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5/7/26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7744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THROUGH-CYCLE PT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8716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8716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(−6%)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FY27E EPS (BASE)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740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0740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13× = PT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FY27E GM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2764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764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pts vs FY18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3816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MID-CYCLE EBIT MGN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4788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4788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hist 28%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05840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16812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16812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$748B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6812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1.16B sh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286000"/>
            <a:ext cx="69494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286000"/>
            <a:ext cx="64008" cy="2560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2377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 Field Methodology Triangulation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263347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methods, all anchored to the conservative-margin base case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82296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 (WACC 10%)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$480–$800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Mid-cycle margins, 8× exit EBITDA, 2.5% TGR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 P/E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$380–$750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11–14× FY27E base EPS of $48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 EV/EBITDA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$420–$780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5–8× FY27E 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Sum-of-the-Parts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$460–$720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HBM 13×; DRAM 8×; NAND 5×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Sell-side consensus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$400–$1,000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analysts; current price above avg 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52w Trading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$83–$683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has 8× off the FY24 trough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7543800" y="2286000"/>
            <a:ext cx="4206240" cy="2560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5" name="Shape 42"/>
          <p:cNvSpPr/>
          <p:nvPr/>
        </p:nvSpPr>
        <p:spPr>
          <a:xfrm>
            <a:off x="7543800" y="2286000"/>
            <a:ext cx="42062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6" name="Text 43"/>
          <p:cNvSpPr/>
          <p:nvPr/>
        </p:nvSpPr>
        <p:spPr>
          <a:xfrm>
            <a:off x="77266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Position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7726680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peak — FY26-27 prints reflect HBM ramp into tight DRAM. Expect normalization FY28+.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726680" y="3063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Range (FY21-FY25)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818120" y="3355848"/>
            <a:ext cx="3657600" cy="146304"/>
          </a:xfrm>
          <a:prstGeom prst="rect">
            <a:avLst/>
          </a:prstGeom>
          <a:solidFill>
            <a:srgbClr val="2E4664"/>
          </a:solidFill>
          <a:ln/>
        </p:spPr>
      </p:sp>
      <p:sp>
        <p:nvSpPr>
          <p:cNvPr id="50" name="Shape 47"/>
          <p:cNvSpPr/>
          <p:nvPr/>
        </p:nvSpPr>
        <p:spPr>
          <a:xfrm>
            <a:off x="11136689" y="3319272"/>
            <a:ext cx="36576" cy="21945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1" name="Text 48"/>
          <p:cNvSpPr/>
          <p:nvPr/>
        </p:nvSpPr>
        <p:spPr>
          <a:xfrm>
            <a:off x="10697777" y="3566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med 44.3%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11260484" y="3319272"/>
            <a:ext cx="36576" cy="219456"/>
          </a:xfrm>
          <a:prstGeom prst="rect">
            <a:avLst/>
          </a:prstGeom>
          <a:solidFill>
            <a:srgbClr val="1D7A4F"/>
          </a:solidFill>
          <a:ln/>
        </p:spPr>
      </p:sp>
      <p:sp>
        <p:nvSpPr>
          <p:cNvPr id="53" name="Text 50"/>
          <p:cNvSpPr/>
          <p:nvPr/>
        </p:nvSpPr>
        <p:spPr>
          <a:xfrm>
            <a:off x="10821572" y="37398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46.5%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818120" y="3520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−12.5%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10561320" y="3520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48.7%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7726680" y="3977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margin range: 96% (near top of historical band)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772668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today's print reflects cycle PEAK economics; valuing on this margin level long-term is the central judgment call.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57200" y="4937760"/>
            <a:ext cx="6949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7200" y="4937760"/>
            <a:ext cx="64008" cy="15544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0" name="Text 57"/>
          <p:cNvSpPr/>
          <p:nvPr/>
        </p:nvSpPr>
        <p:spPr>
          <a:xfrm>
            <a:off x="640080" y="50109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Financials  |  $ in billions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03520"/>
          <a:ext cx="6675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60704"/>
                <a:gridCol w="1060704"/>
                <a:gridCol w="1060704"/>
                <a:gridCol w="1060704"/>
                <a:gridCol w="1060704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 (trough)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Shape 58"/>
          <p:cNvSpPr/>
          <p:nvPr/>
        </p:nvSpPr>
        <p:spPr>
          <a:xfrm>
            <a:off x="7543800" y="493776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543800" y="4937760"/>
            <a:ext cx="64008" cy="1554480"/>
          </a:xfrm>
          <a:prstGeom prst="rect">
            <a:avLst/>
          </a:prstGeom>
          <a:solidFill>
            <a:srgbClr val="C9802E"/>
          </a:solidFill>
          <a:ln/>
        </p:spPr>
      </p:sp>
      <p:sp>
        <p:nvSpPr>
          <p:cNvPr id="64" name="Text 60"/>
          <p:cNvSpPr/>
          <p:nvPr/>
        </p:nvSpPr>
        <p:spPr>
          <a:xfrm>
            <a:off x="7726680" y="5010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Summary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7726680" y="5285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Mid-cycle Micron is worth $625 at peak GM 65% (+6 pts vs FY18 cycle peak of 58.6%). Stock trading 7% above base case fair value but 15% above sell-side consensus — the market is pricing in modest structural HBM uplift. Hold rating; structural HBM bull case to $1,000+ (separate sheet) requires three durability tests to all hold.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457200" y="6565392"/>
            <a:ext cx="11292840" cy="10973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7" name="Text 63"/>
          <p:cNvSpPr/>
          <p:nvPr/>
        </p:nvSpPr>
        <p:spPr>
          <a:xfrm>
            <a:off x="457200" y="6601968"/>
            <a:ext cx="1129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Leone  ·  Independent Equity Research  ·  May 2026  ·  bpleon.com  ·  Sources: Micron 10-K, FQ2'26 release; Counterpoint, TrendForce. Not investment advice.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 — Through-Cycle Tear Sheet</dc:title>
  <dc:subject>PptxGenJS Presentation</dc:subject>
  <dc:creator>Brandon Leone</dc:creator>
  <cp:lastModifiedBy>Brandon Leone</cp:lastModifiedBy>
  <cp:revision>1</cp:revision>
  <dcterms:created xsi:type="dcterms:W3CDTF">2026-05-07T23:32:08Z</dcterms:created>
  <dcterms:modified xsi:type="dcterms:W3CDTF">2026-05-07T23:32:08Z</dcterms:modified>
</cp:coreProperties>
</file>