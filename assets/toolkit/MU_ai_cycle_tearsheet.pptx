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"/>
            <a:ext cx="12191695" cy="9601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MICRON TECHNOLOGY  |  NASDAQ: MU  |  TEAR SHEET  |  AS-OF 5/7/2026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2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AI-Cycle / Structural HBM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321040" y="502920"/>
            <a:ext cx="960120" cy="365760"/>
          </a:xfrm>
          <a:prstGeom prst="rect">
            <a:avLst/>
          </a:prstGeom>
          <a:solidFill>
            <a:srgbClr val="1D7A4F"/>
          </a:solidFill>
          <a:ln/>
        </p:spPr>
      </p:sp>
      <p:sp>
        <p:nvSpPr>
          <p:cNvPr id="7" name="Text 5"/>
          <p:cNvSpPr/>
          <p:nvPr/>
        </p:nvSpPr>
        <p:spPr>
          <a:xfrm>
            <a:off x="8321040" y="502920"/>
            <a:ext cx="960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BUY*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72600" y="475488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PT $1,000+   (+50%)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1691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188720"/>
            <a:ext cx="169164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128016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PRICE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6928" y="148132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$668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66928" y="190195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5/7/26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377440" y="1188720"/>
            <a:ext cx="1691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377440" y="1188720"/>
            <a:ext cx="169164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6" name="Text 14"/>
          <p:cNvSpPr/>
          <p:nvPr/>
        </p:nvSpPr>
        <p:spPr>
          <a:xfrm>
            <a:off x="2487168" y="128016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BULL-CASE PT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487168" y="148132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$1,000+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487168" y="190195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+50% (structural HBM)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297680" y="1188720"/>
            <a:ext cx="1691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0" y="1188720"/>
            <a:ext cx="169164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1" name="Text 19"/>
          <p:cNvSpPr/>
          <p:nvPr/>
        </p:nvSpPr>
        <p:spPr>
          <a:xfrm>
            <a:off x="4407408" y="128016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FY27E EPS (BULL)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407408" y="148132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407408" y="190195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14× = PT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217920" y="1188720"/>
            <a:ext cx="1691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0" y="1188720"/>
            <a:ext cx="169164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6" name="Text 24"/>
          <p:cNvSpPr/>
          <p:nvPr/>
        </p:nvSpPr>
        <p:spPr>
          <a:xfrm>
            <a:off x="6327648" y="128016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FY27E GM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327648" y="148132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327648" y="190195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 pts vs FY18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138160" y="1188720"/>
            <a:ext cx="1691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8160" y="1188720"/>
            <a:ext cx="169164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1" name="Text 29"/>
          <p:cNvSpPr/>
          <p:nvPr/>
        </p:nvSpPr>
        <p:spPr>
          <a:xfrm>
            <a:off x="8247888" y="128016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HBM MIX FY27E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247888" y="148132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28%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247888" y="190195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10058400" y="1188720"/>
            <a:ext cx="169164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058400" y="1188720"/>
            <a:ext cx="169164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6" name="Text 34"/>
          <p:cNvSpPr/>
          <p:nvPr/>
        </p:nvSpPr>
        <p:spPr>
          <a:xfrm>
            <a:off x="10168128" y="1280160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168128" y="1481328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0168128" y="190195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 scenario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7200" y="2286000"/>
            <a:ext cx="6949440" cy="256032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2286000"/>
            <a:ext cx="64008" cy="25603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237744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Football Field Methodology Triangulation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40080" y="2633472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methods, all anchored to the conservative-margin base case</a:t>
            </a:r>
            <a:endParaRPr lang="en-US" sz="9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926080"/>
          <a:ext cx="66751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280160"/>
                <a:gridCol w="822960"/>
                <a:gridCol w="30175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5F2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5F2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5F2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5F2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DCF (structural)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$700–$1,150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Bull case: peak GM 71% sustained 3-5 years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Trading P/E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$890–$1,180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$1,036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12–16× FY27E bull EPS of $74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Trading EV/EBITDA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$870–$1,220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$1,045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7–10× FY27E EBITDA at peak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Sum-of-the-Parts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$820–$1,150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$985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HBM 16× (growth premium); DRAM 9×; NAND 6×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 peak precedent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$650–$1,200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$925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FY18 peak P/B applied to FY27E book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Sell-side 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B1F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 Davidson, BofA most bullish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4" name="Shape 41"/>
          <p:cNvSpPr/>
          <p:nvPr/>
        </p:nvSpPr>
        <p:spPr>
          <a:xfrm>
            <a:off x="7543800" y="2286000"/>
            <a:ext cx="4206240" cy="256032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5" name="Shape 42"/>
          <p:cNvSpPr/>
          <p:nvPr/>
        </p:nvSpPr>
        <p:spPr>
          <a:xfrm>
            <a:off x="7543800" y="2286000"/>
            <a:ext cx="4206240" cy="457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6" name="Text 43"/>
          <p:cNvSpPr/>
          <p:nvPr/>
        </p:nvSpPr>
        <p:spPr>
          <a:xfrm>
            <a:off x="7726680" y="2377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Cycle Position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7726680" y="26700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shift case — HBM permanently rerates Micron. Requires durability of LTAs + oligopoly + AI capex.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7726680" y="30632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 Range (FY21-FY25)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7818120" y="3355848"/>
            <a:ext cx="3657600" cy="146304"/>
          </a:xfrm>
          <a:prstGeom prst="rect">
            <a:avLst/>
          </a:prstGeom>
          <a:solidFill>
            <a:srgbClr val="2E4664"/>
          </a:solidFill>
          <a:ln/>
        </p:spPr>
      </p:sp>
      <p:sp>
        <p:nvSpPr>
          <p:cNvPr id="50" name="Shape 47"/>
          <p:cNvSpPr/>
          <p:nvPr/>
        </p:nvSpPr>
        <p:spPr>
          <a:xfrm>
            <a:off x="11136689" y="3319272"/>
            <a:ext cx="36576" cy="21945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1" name="Text 48"/>
          <p:cNvSpPr/>
          <p:nvPr/>
        </p:nvSpPr>
        <p:spPr>
          <a:xfrm>
            <a:off x="10697777" y="35661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5y med 44.3%</a:t>
            </a:r>
            <a:endParaRPr lang="en-US" sz="750" dirty="0"/>
          </a:p>
        </p:txBody>
      </p:sp>
      <p:sp>
        <p:nvSpPr>
          <p:cNvPr id="52" name="Shape 49"/>
          <p:cNvSpPr/>
          <p:nvPr/>
        </p:nvSpPr>
        <p:spPr>
          <a:xfrm>
            <a:off x="11260484" y="3319272"/>
            <a:ext cx="36576" cy="219456"/>
          </a:xfrm>
          <a:prstGeom prst="rect">
            <a:avLst/>
          </a:prstGeom>
          <a:solidFill>
            <a:srgbClr val="1D7A4F"/>
          </a:solidFill>
          <a:ln/>
        </p:spPr>
      </p:sp>
      <p:sp>
        <p:nvSpPr>
          <p:cNvPr id="53" name="Text 50"/>
          <p:cNvSpPr/>
          <p:nvPr/>
        </p:nvSpPr>
        <p:spPr>
          <a:xfrm>
            <a:off x="10821572" y="373989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D7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46.5%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7818120" y="35204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1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Trough −12.5%</a:t>
            </a:r>
            <a:endParaRPr lang="en-US" sz="750" dirty="0"/>
          </a:p>
        </p:txBody>
      </p:sp>
      <p:sp>
        <p:nvSpPr>
          <p:cNvPr id="55" name="Text 52"/>
          <p:cNvSpPr/>
          <p:nvPr/>
        </p:nvSpPr>
        <p:spPr>
          <a:xfrm>
            <a:off x="10561320" y="35204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48.7%</a:t>
            </a:r>
            <a:endParaRPr lang="en-US" sz="750" dirty="0"/>
          </a:p>
        </p:txBody>
      </p:sp>
      <p:sp>
        <p:nvSpPr>
          <p:cNvPr id="56" name="Text 53"/>
          <p:cNvSpPr/>
          <p:nvPr/>
        </p:nvSpPr>
        <p:spPr>
          <a:xfrm>
            <a:off x="7726680" y="39776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5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in margin range: 96% (near top of historical band)</a:t>
            </a:r>
            <a:endParaRPr lang="en-US" sz="950" dirty="0"/>
          </a:p>
        </p:txBody>
      </p:sp>
      <p:sp>
        <p:nvSpPr>
          <p:cNvPr id="57" name="Text 54"/>
          <p:cNvSpPr/>
          <p:nvPr/>
        </p:nvSpPr>
        <p:spPr>
          <a:xfrm>
            <a:off x="7726680" y="41788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 today's print reflects cycle PEAK economics; valuing on this margin level long-term is the central judgment call.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457200" y="4937760"/>
            <a:ext cx="69494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457200" y="4937760"/>
            <a:ext cx="64008" cy="155448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0" name="Text 57"/>
          <p:cNvSpPr/>
          <p:nvPr/>
        </p:nvSpPr>
        <p:spPr>
          <a:xfrm>
            <a:off x="640080" y="5010912"/>
            <a:ext cx="6675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Historical Financials  |  $ in billions</a:t>
            </a:r>
            <a:endParaRPr lang="en-US" sz="11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5303520"/>
          <a:ext cx="66751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60704"/>
                <a:gridCol w="1060704"/>
                <a:gridCol w="1060704"/>
                <a:gridCol w="1060704"/>
                <a:gridCol w="1060704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2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2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2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2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FY23 (trough)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2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F2E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Margin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−9.1%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Margin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−12.5%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34.6%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1A1F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D2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2" name="Shape 58"/>
          <p:cNvSpPr/>
          <p:nvPr/>
        </p:nvSpPr>
        <p:spPr>
          <a:xfrm>
            <a:off x="7543800" y="4937760"/>
            <a:ext cx="4206240" cy="1554480"/>
          </a:xfrm>
          <a:prstGeom prst="rect">
            <a:avLst/>
          </a:prstGeom>
          <a:solidFill>
            <a:srgbClr val="FFFFFF"/>
          </a:solidFill>
          <a:ln w="6350">
            <a:solidFill>
              <a:srgbClr val="D9D2C2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7543800" y="4937760"/>
            <a:ext cx="64008" cy="1554480"/>
          </a:xfrm>
          <a:prstGeom prst="rect">
            <a:avLst/>
          </a:prstGeom>
          <a:solidFill>
            <a:srgbClr val="1D7A4F"/>
          </a:solidFill>
          <a:ln/>
        </p:spPr>
      </p:sp>
      <p:sp>
        <p:nvSpPr>
          <p:cNvPr id="64" name="Text 60"/>
          <p:cNvSpPr/>
          <p:nvPr/>
        </p:nvSpPr>
        <p:spPr>
          <a:xfrm>
            <a:off x="7726680" y="501091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Thesis Summary</a:t>
            </a:r>
            <a:endParaRPr lang="en-US" sz="1100" dirty="0"/>
          </a:p>
        </p:txBody>
      </p:sp>
      <p:sp>
        <p:nvSpPr>
          <p:cNvPr id="65" name="Text 61"/>
          <p:cNvSpPr/>
          <p:nvPr/>
        </p:nvSpPr>
        <p:spPr>
          <a:xfrm>
            <a:off x="7726680" y="5285232"/>
            <a:ext cx="3931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*Conditional Buy. Requires three durability tests to all hold: (1) 5-yr HBM LTAs become a category convention; (2) oligopoly economics persist beyond 2028 (CXMT stays 3+ generations behind); (3) hyperscaler AI capex doesn't digest in 2027-28. If all three hold, peak GM 71% sustains for 3-5 years instead of one quarter — fair value rerates to $1,000+. Watch HBM mix every quarter.</a:t>
            </a:r>
            <a:endParaRPr lang="en-US" sz="950" dirty="0"/>
          </a:p>
        </p:txBody>
      </p:sp>
      <p:sp>
        <p:nvSpPr>
          <p:cNvPr id="66" name="Shape 62"/>
          <p:cNvSpPr/>
          <p:nvPr/>
        </p:nvSpPr>
        <p:spPr>
          <a:xfrm>
            <a:off x="457200" y="6565392"/>
            <a:ext cx="11292840" cy="10973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7" name="Text 63"/>
          <p:cNvSpPr/>
          <p:nvPr/>
        </p:nvSpPr>
        <p:spPr>
          <a:xfrm>
            <a:off x="457200" y="6601968"/>
            <a:ext cx="11292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Brandon Leone  ·  Independent Equity Research  ·  May 2026  ·  bpleon.com  ·  Sources: Micron 10-K, FQ2'26 release; Counterpoint, TrendForce. Not investment advice.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 — AI-Cycle Tear Sheet</dc:title>
  <dc:subject>PptxGenJS Presentation</dc:subject>
  <dc:creator>Brandon Leone</dc:creator>
  <cp:lastModifiedBy>Brandon Leone</cp:lastModifiedBy>
  <cp:revision>1</cp:revision>
  <dcterms:created xsi:type="dcterms:W3CDTF">2026-05-07T23:32:08Z</dcterms:created>
  <dcterms:modified xsi:type="dcterms:W3CDTF">2026-05-07T23:32:08Z</dcterms:modified>
</cp:coreProperties>
</file>